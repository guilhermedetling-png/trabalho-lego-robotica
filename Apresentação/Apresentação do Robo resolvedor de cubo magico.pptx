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3"/>
  </p:notesMasterIdLst>
  <p:sldIdLst>
    <p:sldId id="256" r:id="rId2"/>
    <p:sldId id="270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Times" panose="02020603050405020304" pitchFamily="18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E42609F-2721-64D0-A35A-194EE148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38DDA9F-5066-8B0A-7E87-0E36C9BD7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147B829-AF6D-044F-A74D-4DEE0661F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9944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_HEADER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411"/>
            </a:srgbClr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2259028" y="2924943"/>
            <a:ext cx="7772401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266861" y="4377085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943600" y="6172200"/>
            <a:ext cx="2133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200" b="0" i="0" u="none" strike="noStrike" cap="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524000" y="6669360"/>
            <a:ext cx="9144000" cy="196696"/>
          </a:xfrm>
          <a:prstGeom prst="rect">
            <a:avLst/>
          </a:prstGeom>
          <a:solidFill>
            <a:srgbClr val="17365D">
              <a:alpha val="89411"/>
            </a:srgbClr>
          </a:solidFill>
          <a:ln w="25400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7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981200" y="1340767"/>
            <a:ext cx="8229600" cy="4889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2pPr>
            <a:lvl3pPr marL="1371600" lvl="2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–"/>
              <a:defRPr sz="3200"/>
            </a:lvl4pPr>
            <a:lvl5pPr marL="2286000" lvl="4" indent="-431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Char char="»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defRPr sz="1800" b="1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24000" y="-3992"/>
            <a:ext cx="9144000" cy="26574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" name="Google Shape;23;p3" descr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81754" y="-4223"/>
            <a:ext cx="850751" cy="264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3"/>
          <p:cNvCxnSpPr/>
          <p:nvPr/>
        </p:nvCxnSpPr>
        <p:spPr>
          <a:xfrm>
            <a:off x="1991543" y="1124744"/>
            <a:ext cx="8219256" cy="1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>
  <p:cSld name="Cabeçalho da Se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>
  <p:cSld name="Duas Partes de Conteúd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ção">
  <p:cSld name="Comparaçã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 descr="Imagem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8" descr="Imagem 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Imagem 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14534" y="136525"/>
            <a:ext cx="1379306" cy="140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 descr="Imagem 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220940"/>
            <a:ext cx="2560322" cy="12289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/>
        </p:nvSpPr>
        <p:spPr>
          <a:xfrm>
            <a:off x="634306" y="6262043"/>
            <a:ext cx="10424161" cy="39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X CIMATech - 2023</a:t>
            </a: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ilhermedetling-png/Trabalho-lego-Robotic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9"/>
          <p:cNvCxnSpPr/>
          <p:nvPr/>
        </p:nvCxnSpPr>
        <p:spPr>
          <a:xfrm>
            <a:off x="1991543" y="5013176"/>
            <a:ext cx="7992890" cy="1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3" name="Google Shape;63;p9"/>
          <p:cNvGrpSpPr/>
          <p:nvPr/>
        </p:nvGrpSpPr>
        <p:grpSpPr>
          <a:xfrm>
            <a:off x="2667000" y="34047"/>
            <a:ext cx="6858000" cy="4624759"/>
            <a:chOff x="0" y="0"/>
            <a:chExt cx="6858000" cy="4624758"/>
          </a:xfrm>
        </p:grpSpPr>
        <p:pic>
          <p:nvPicPr>
            <p:cNvPr id="64" name="Google Shape;64;p9" descr="filme-colado.png"/>
            <p:cNvPicPr preferRelativeResize="0"/>
            <p:nvPr/>
          </p:nvPicPr>
          <p:blipFill rotWithShape="1">
            <a:blip r:embed="rId3">
              <a:alphaModFix/>
            </a:blip>
            <a:srcRect t="1772" b="1771"/>
            <a:stretch/>
          </p:blipFill>
          <p:spPr>
            <a:xfrm>
              <a:off x="0" y="0"/>
              <a:ext cx="6858000" cy="31007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9"/>
            <p:cNvSpPr/>
            <p:nvPr/>
          </p:nvSpPr>
          <p:spPr>
            <a:xfrm>
              <a:off x="0" y="3176957"/>
              <a:ext cx="6858000" cy="14478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lvl="0">
                <a:buSzPts val="2800"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Grupo: </a:t>
              </a:r>
              <a:r>
                <a:rPr lang="en-US" sz="2800" b="1" i="0" u="none" strike="noStrike" cap="none" dirty="0">
                  <a:solidFill>
                    <a:schemeClr val="tx1"/>
                  </a:solidFill>
                  <a:latin typeface="Times"/>
                  <a:ea typeface="Times"/>
                  <a:cs typeface="Times"/>
                  <a:sym typeface="Times"/>
                </a:rPr>
                <a:t>R</a:t>
              </a:r>
              <a:r>
                <a:rPr lang="en-US" sz="2800" b="1" dirty="0">
                  <a:solidFill>
                    <a:schemeClr val="tx1"/>
                  </a:solidFill>
                  <a:latin typeface="Times"/>
                  <a:ea typeface="Times"/>
                  <a:cs typeface="Times"/>
                  <a:sym typeface="Times"/>
                </a:rPr>
                <a:t>enegados</a:t>
              </a:r>
              <a:endParaRPr dirty="0">
                <a:solidFill>
                  <a:schemeClr val="tx1"/>
                </a:solidFill>
              </a:endParaRPr>
            </a:p>
            <a:p>
              <a:pPr lvl="0">
                <a:buSzPts val="2800"/>
              </a:pPr>
              <a:br>
                <a:rPr lang="en-US" sz="28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</a:br>
              <a:r>
                <a:rPr lang="en-US" sz="2800" b="0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Tema do </a:t>
              </a:r>
              <a:r>
                <a:rPr lang="en-US" sz="2800" b="0" i="0" u="none" strike="noStrike" cap="none" dirty="0" err="1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projeto</a:t>
              </a:r>
              <a:r>
                <a:rPr lang="en-US" sz="2800" b="0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: </a:t>
              </a:r>
              <a:r>
                <a:rPr lang="pt-BR" sz="2800" b="1" dirty="0">
                  <a:solidFill>
                    <a:schemeClr val="tx1"/>
                  </a:solidFill>
                  <a:latin typeface="Times"/>
                  <a:cs typeface="Times"/>
                </a:rPr>
                <a:t>Robô automatizado de LEGO para resolver cubo mágico.</a:t>
              </a:r>
              <a:endParaRPr sz="2800" b="1" dirty="0">
                <a:solidFill>
                  <a:schemeClr val="tx1"/>
                </a:solidFill>
                <a:latin typeface="Times"/>
                <a:cs typeface="Time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0509737-A013-F173-AA45-7CE4E4F4C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>
            <a:extLst>
              <a:ext uri="{FF2B5EF4-FFF2-40B4-BE49-F238E27FC236}">
                <a16:creationId xmlns:a16="http://schemas.microsoft.com/office/drawing/2014/main" id="{2CE91ABB-AC5C-4728-AF22-36DB26DF2C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lvl="0"/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Grupo </a:t>
            </a:r>
            <a:r>
              <a:rPr lang="en-US" dirty="0">
                <a:latin typeface="Times"/>
                <a:ea typeface="Times"/>
                <a:cs typeface="Times"/>
                <a:sym typeface="Times"/>
              </a:rPr>
              <a:t>renegados</a:t>
            </a:r>
            <a:endParaRPr sz="3600" b="1" i="0" u="none" strike="noStrike" cap="none" dirty="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" name="Google Shape;71;p10">
            <a:extLst>
              <a:ext uri="{FF2B5EF4-FFF2-40B4-BE49-F238E27FC236}">
                <a16:creationId xmlns:a16="http://schemas.microsoft.com/office/drawing/2014/main" id="{D052C942-DFDD-E683-EE7E-5AB3250317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AFA3ABF5-F55D-25BF-FE77-F96540B91D0B}"/>
              </a:ext>
            </a:extLst>
          </p:cNvPr>
          <p:cNvSpPr txBox="1"/>
          <p:nvPr/>
        </p:nvSpPr>
        <p:spPr>
          <a:xfrm>
            <a:off x="1519826" y="1481299"/>
            <a:ext cx="8912029" cy="289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80736" lvl="0" indent="-280736" algn="just">
              <a:buSzPts val="2800"/>
              <a:buFont typeface="Times"/>
              <a:buChar char="•"/>
            </a:pPr>
            <a:r>
              <a:rPr lang="pt-BR" sz="2800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João Vitor dos Santos Pereira                          RA:2301276</a:t>
            </a:r>
          </a:p>
          <a:p>
            <a:pPr marL="280736" indent="-280736" algn="just">
              <a:buSzPts val="2800"/>
              <a:buFont typeface="Times"/>
              <a:buChar char="•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Guilherme Henrique Augusto do Nascimento RA: 1900975</a:t>
            </a:r>
          </a:p>
          <a:p>
            <a:pPr marL="280736" indent="-280736" algn="just">
              <a:buSzPts val="2800"/>
              <a:buFont typeface="Times"/>
              <a:buChar char="•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Guilherme de Oliveira Detling                         RA:2301803</a:t>
            </a:r>
          </a:p>
          <a:p>
            <a:pPr marL="280736" indent="-280736" algn="just">
              <a:buSzPts val="2800"/>
              <a:buFont typeface="Times"/>
              <a:buChar char="•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Eduardo Paro Saraiva                                       RA:2300613</a:t>
            </a:r>
          </a:p>
          <a:p>
            <a:pPr marL="280736" indent="-280736" algn="just">
              <a:buSzPts val="2800"/>
              <a:buFont typeface="Times"/>
              <a:buChar char="•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Danilo Cristino de Lima			     RA:2301664</a:t>
            </a:r>
          </a:p>
          <a:p>
            <a:pPr marL="280736" indent="-280736" algn="just">
              <a:buSzPts val="2800"/>
              <a:buFont typeface="Times"/>
              <a:buChar char="•"/>
            </a:pPr>
            <a:endParaRPr lang="pt-BR" sz="2800" dirty="0">
              <a:solidFill>
                <a:srgbClr val="FF0000"/>
              </a:solidFill>
              <a:latin typeface="Times"/>
              <a:cs typeface="Times"/>
            </a:endParaRPr>
          </a:p>
          <a:p>
            <a:pPr marL="280736" lvl="0" indent="-280736" algn="just">
              <a:buSzPts val="2800"/>
              <a:buFont typeface="Times"/>
              <a:buChar char="•"/>
            </a:pP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185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Objetivo</a:t>
            </a:r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9" name="Google Shape;79;p11"/>
          <p:cNvSpPr txBox="1"/>
          <p:nvPr/>
        </p:nvSpPr>
        <p:spPr>
          <a:xfrm>
            <a:off x="1519826" y="1481299"/>
            <a:ext cx="8912029" cy="353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280736" lvl="0" indent="-280736" algn="just">
              <a:buSzPts val="2800"/>
              <a:buFont typeface="Times"/>
              <a:buChar char="•"/>
            </a:pPr>
            <a:r>
              <a:rPr lang="pt-BR" sz="2800" dirty="0">
                <a:latin typeface="Times"/>
                <a:cs typeface="Times"/>
              </a:rPr>
              <a:t>Desenvolver um robô automatizado utilizando LEGO </a:t>
            </a:r>
            <a:r>
              <a:rPr lang="pt-BR" sz="2800" dirty="0" err="1">
                <a:latin typeface="Times"/>
                <a:cs typeface="Times"/>
              </a:rPr>
              <a:t>Mindstorms</a:t>
            </a:r>
            <a:r>
              <a:rPr lang="pt-BR" sz="2800" dirty="0">
                <a:latin typeface="Times"/>
                <a:cs typeface="Times"/>
              </a:rPr>
              <a:t> EV3, capaz de identificar as cores de um cubo mágico por meio de sensores e executar os movimentos necessários para resolvê-lo de forma autônoma. O projeto integra conceitos de programação, robótica e lógica computacional, demonstrando na prática como sistemas automatizados podem realizar tarefas complexas com precisão e repetibilidade.</a:t>
            </a:r>
            <a:endParaRPr lang="en-US" sz="2800" dirty="0">
              <a:latin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Introdução  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1965133" y="1902695"/>
            <a:ext cx="8261733" cy="3970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lvl="0" algn="just">
              <a:buSzPts val="2800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Este projeto foi desenvolvido para aplicar, na prática, conceitos de robótica e programação por meio da criação de um robô capaz de resolver um cubo mágico automaticamente. A escolha do tema se deve ao desafio lógico envolvido na resolução do cubo, tornando-o ideal para demonstrar o uso de sensores, motores e algoritmos. O protótipo evidencia como a automação pode executar tarefas complexas com precisão, além de contribuir para o aprendizado e desenvolvimento tecnológico.</a:t>
            </a:r>
            <a:endParaRPr sz="2800" dirty="0">
              <a:solidFill>
                <a:schemeClr val="tx1"/>
              </a:solidFill>
              <a:latin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Desenvolvimento 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641533" y="1352596"/>
            <a:ext cx="9332126" cy="41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Descrevam cada item do processo de desenvolvimento do projeto: </a:t>
            </a:r>
            <a:endParaRPr/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Funcionalidades </a:t>
            </a:r>
            <a:endParaRPr/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 ao longo do desenvolvimento do projeto.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Conhecimento e Experiencia adquirida ao longo do processo de desenvolvimento do projeto </a:t>
            </a:r>
            <a:endParaRPr/>
          </a:p>
          <a:p>
            <a:pPr marL="374315" marR="0" lvl="0" indent="-374315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AutoNum type="arabicPeriod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Funcionalidades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141056" y="2093345"/>
            <a:ext cx="8505579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just">
              <a:buSzPts val="2800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O protótipo é capaz de identificar as cores do cubo mágico por meio de sensor, realizar a leitura das faces e processar as informações utilizando programação embarcada. A partir disso, executa automaticamente os movimentos necessários para resolver o cubo, controlando os motores com precisão. Além disso, o sistema realiza toda a operação de forma autônoma, sem necessidade de intervenção durante o processo.</a:t>
            </a:r>
            <a:endParaRPr sz="2800" dirty="0">
              <a:solidFill>
                <a:schemeClr val="tx1"/>
              </a:solidFill>
              <a:latin typeface="Times"/>
              <a:cs typeface="Times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Problemas e Desafios encontrados</a:t>
            </a:r>
            <a:endParaRPr sz="3600" b="1" i="0" u="none" strike="noStrike" cap="non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0435543" y="6564337"/>
            <a:ext cx="219964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1776096" y="1252479"/>
            <a:ext cx="8769429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Durante o desenvolvimento do projeto, o grupo enfrentou algumas dificuldades que impactaram o andamento da construção do protótipo. Entre os principais desafios, destaca-se a falta de peças de outros kits, o que limitou algumas possibilidades de montagem e exigiu adaptações na estrutura do robô.</a:t>
            </a:r>
          </a:p>
          <a:p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Além disso, houve dificuldade em encontrar protótipos e códigos como referência, e muitos dos materiais disponíveis estavam desatualizados, o que demandou ajustes e testes adicionais para funcionamento no ambiente atual. Esses obstáculos exigiram maior esforço do grupo na busca por soluções e no processo de desenvolvimento.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"/>
              <a:buNone/>
            </a:pP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Conhecimento e Experiencia adquirida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1797404" y="1490142"/>
            <a:ext cx="9836501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Ao longo do desenvolvimento do projeto, o grupo adquiriu conhecimentos em robótica, programação e integração de sensores e motores utilizando o LEGO </a:t>
            </a:r>
            <a:r>
              <a:rPr lang="pt-BR" sz="2800" dirty="0" err="1">
                <a:solidFill>
                  <a:schemeClr val="tx1"/>
                </a:solidFill>
                <a:latin typeface="Times"/>
                <a:cs typeface="Times"/>
              </a:rPr>
              <a:t>Mindstorms</a:t>
            </a: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 EV3. Também foram desenvolvidas habilidades relacionadas à lógica de programação e à automação de processos.</a:t>
            </a:r>
          </a:p>
          <a:p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Além do aspecto técnico, o projeto contribuiu para o fortalecimento do trabalho em equipe, da comunicação e da resolução de problemas, especialmente diante dos desafios encontrados. Essa experiência ampliou a capacidade do grupo em desenvolver soluções práticas e inovadoras.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Resultados Obtidos 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EE0793-D77F-95AA-2134-F926D2C08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206" y="1634220"/>
            <a:ext cx="5871587" cy="325627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FEC4F88-051B-15CA-74B2-A47E5AFB7FB0}"/>
              </a:ext>
            </a:extLst>
          </p:cNvPr>
          <p:cNvSpPr txBox="1"/>
          <p:nvPr/>
        </p:nvSpPr>
        <p:spPr>
          <a:xfrm>
            <a:off x="2313634" y="5629415"/>
            <a:ext cx="9332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https://drive.google.com/file/d/1zBx80RZml8HD2GR7-LuG-M4FVucPuly-/view?usp=sharing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dirty="0" err="1">
                <a:latin typeface="Times"/>
                <a:ea typeface="Times"/>
                <a:cs typeface="Times"/>
                <a:sym typeface="Times"/>
              </a:rPr>
              <a:t>Conclusão</a:t>
            </a:r>
            <a:r>
              <a:rPr lang="en-US" dirty="0">
                <a:latin typeface="Times"/>
                <a:ea typeface="Times"/>
                <a:cs typeface="Times"/>
                <a:sym typeface="Times"/>
              </a:rPr>
              <a:t> </a:t>
            </a:r>
            <a:endParaRPr dirty="0"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582973" y="1817152"/>
            <a:ext cx="10166253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just">
              <a:buSzPts val="2800"/>
            </a:pPr>
            <a:r>
              <a:rPr lang="pt-BR" sz="2800" dirty="0">
                <a:solidFill>
                  <a:schemeClr val="tx1"/>
                </a:solidFill>
                <a:latin typeface="Times"/>
                <a:cs typeface="Times"/>
              </a:rPr>
              <a:t>O desenvolvimento do projeto evidenciou a aplicação prática de conceitos de robótica e programação, desde a concepção até a implementação do protótipo. Ao longo do processo, a equipe superou desafios técnicos e de integração, desenvolvendo soluções que garantiram o funcionamento do robô. Cada dificuldade enfrentada contribuiu para o aprendizado, resultando em um projeto funcional e alinhado aos objetivos propostos.</a:t>
            </a:r>
            <a:endParaRPr sz="2800" dirty="0">
              <a:solidFill>
                <a:schemeClr val="tx1"/>
              </a:solidFill>
              <a:latin typeface="Times"/>
              <a:cs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1991543" y="545195"/>
            <a:ext cx="8219256" cy="651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 i="0" u="none" strike="noStrike" cap="none" dirty="0" err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Github</a:t>
            </a:r>
            <a:r>
              <a:rPr lang="en-US" sz="3600" b="1" i="0" u="none" strike="noStrike" cap="none" dirty="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 </a:t>
            </a:r>
            <a:r>
              <a:rPr lang="en-US" dirty="0">
                <a:latin typeface="Times"/>
                <a:ea typeface="Times"/>
                <a:cs typeface="Times"/>
                <a:sym typeface="Times"/>
              </a:rPr>
              <a:t>Video</a:t>
            </a:r>
            <a:endParaRPr dirty="0"/>
          </a:p>
        </p:txBody>
      </p:sp>
      <p:sp>
        <p:nvSpPr>
          <p:cNvPr id="151" name="Google Shape;151;p21"/>
          <p:cNvSpPr txBox="1">
            <a:spLocks noGrp="1"/>
          </p:cNvSpPr>
          <p:nvPr>
            <p:ph type="sldNum" idx="12"/>
          </p:nvPr>
        </p:nvSpPr>
        <p:spPr>
          <a:xfrm>
            <a:off x="10319680" y="6564337"/>
            <a:ext cx="335827" cy="33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0240659" y="3552350"/>
            <a:ext cx="1867814" cy="1781197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492370" y="1920696"/>
            <a:ext cx="1139504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 algn="just">
              <a:buSzPts val="2800"/>
            </a:pPr>
            <a:r>
              <a:rPr lang="en-US" sz="2800" dirty="0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https://github.com/guilhermedetling-png/</a:t>
            </a:r>
            <a:r>
              <a:rPr lang="en-US" sz="2800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Trabalho-lego-Robotica</a:t>
            </a:r>
            <a:br>
              <a:rPr lang="en-US" sz="2800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  <a:t>           https://drive.google.com/drive/folders/1eJQzCIqlpSNo3a1gfojlub9w-PzUaHHB?hl=pt-br</a:t>
            </a:r>
            <a:endParaRPr sz="2800" b="0" i="0" u="none" strike="noStrike" cap="none" dirty="0">
              <a:solidFill>
                <a:schemeClr val="tx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636</Words>
  <Application>Microsoft Office PowerPoint</Application>
  <PresentationFormat>Widescreen</PresentationFormat>
  <Paragraphs>42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Helvetica Neue</vt:lpstr>
      <vt:lpstr>Times</vt:lpstr>
      <vt:lpstr>Calibri</vt:lpstr>
      <vt:lpstr>Tema do Office</vt:lpstr>
      <vt:lpstr>Apresentação do PowerPoint</vt:lpstr>
      <vt:lpstr>   Grupo renegados</vt:lpstr>
      <vt:lpstr>Objetivo</vt:lpstr>
      <vt:lpstr>Introdução  </vt:lpstr>
      <vt:lpstr>Desenvolvimento </vt:lpstr>
      <vt:lpstr>Funcionalidades</vt:lpstr>
      <vt:lpstr>Problemas e Desafios encontrados</vt:lpstr>
      <vt:lpstr>Conhecimento e Experiencia adquirida</vt:lpstr>
      <vt:lpstr>Resultados Obtidos </vt:lpstr>
      <vt:lpstr>Conclusão </vt:lpstr>
      <vt:lpstr>Github e Video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Guilherme Detling</dc:creator>
  <cp:lastModifiedBy>Guilherme Detling</cp:lastModifiedBy>
  <cp:revision>2</cp:revision>
  <dcterms:modified xsi:type="dcterms:W3CDTF">2026-04-09T19:46:27Z</dcterms:modified>
</cp:coreProperties>
</file>