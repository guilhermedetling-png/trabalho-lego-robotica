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5" r:id="rId1"/>
  </p:sldMasterIdLst>
  <p:notesMasterIdLst>
    <p:notesMasterId r:id="rId13"/>
  </p:notesMasterIdLst>
  <p:sldIdLst>
    <p:sldId id="256" r:id="rId2"/>
    <p:sldId id="270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embeddedFontLst>
    <p:embeddedFont>
      <p:font typeface="Helvetica Neue" panose="020B0604020202020204" charset="0"/>
      <p:regular r:id="rId14"/>
      <p:bold r:id="rId15"/>
      <p:italic r:id="rId16"/>
      <p:boldItalic r:id="rId17"/>
    </p:embeddedFont>
    <p:embeddedFont>
      <p:font typeface="Times" panose="02020603050405020304" pitchFamily="18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992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4E42609F-2721-64D0-A35A-194EE1481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>
            <a:extLst>
              <a:ext uri="{FF2B5EF4-FFF2-40B4-BE49-F238E27FC236}">
                <a16:creationId xmlns:a16="http://schemas.microsoft.com/office/drawing/2014/main" id="{638DDA9F-5066-8B0A-7E87-0E36C9BD75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:notes">
            <a:extLst>
              <a:ext uri="{FF2B5EF4-FFF2-40B4-BE49-F238E27FC236}">
                <a16:creationId xmlns:a16="http://schemas.microsoft.com/office/drawing/2014/main" id="{8147B829-AF6D-044F-A74D-4DEE0661FC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99449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_HEADER" type="tx">
  <p:cSld name="TITLE_AND_BODY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1524000" y="6669360"/>
            <a:ext cx="9144000" cy="196696"/>
          </a:xfrm>
          <a:prstGeom prst="rect">
            <a:avLst/>
          </a:prstGeom>
          <a:solidFill>
            <a:srgbClr val="17365D">
              <a:alpha val="89411"/>
            </a:srgbClr>
          </a:solidFill>
          <a:ln w="25400" cap="flat" cmpd="sng">
            <a:solidFill>
              <a:srgbClr val="17365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" name="Google Shape;14;p2"/>
          <p:cNvSpPr txBox="1">
            <a:spLocks noGrp="1"/>
          </p:cNvSpPr>
          <p:nvPr>
            <p:ph type="title"/>
          </p:nvPr>
        </p:nvSpPr>
        <p:spPr>
          <a:xfrm>
            <a:off x="2259028" y="2924943"/>
            <a:ext cx="7772401" cy="1362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  <a:defRPr sz="4000" b="1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body" idx="1"/>
          </p:nvPr>
        </p:nvSpPr>
        <p:spPr>
          <a:xfrm>
            <a:off x="2266861" y="4377085"/>
            <a:ext cx="7772401" cy="1500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5943600" y="6172200"/>
            <a:ext cx="2133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 sz="1200" b="0" i="0" u="none" strike="noStrike" cap="non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OBJEC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1524000" y="6669360"/>
            <a:ext cx="9144000" cy="196696"/>
          </a:xfrm>
          <a:prstGeom prst="rect">
            <a:avLst/>
          </a:prstGeom>
          <a:solidFill>
            <a:srgbClr val="17365D">
              <a:alpha val="89411"/>
            </a:srgbClr>
          </a:solidFill>
          <a:ln w="25400" cap="flat" cmpd="sng">
            <a:solidFill>
              <a:srgbClr val="17365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7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alibri"/>
              <a:buNone/>
              <a:defRPr sz="3600" b="1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1981200" y="1340767"/>
            <a:ext cx="8229600" cy="4889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•"/>
              <a:defRPr sz="3200"/>
            </a:lvl1pPr>
            <a:lvl2pPr marL="914400" lvl="1" indent="-431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–"/>
              <a:defRPr sz="3200"/>
            </a:lvl2pPr>
            <a:lvl3pPr marL="1371600" lvl="2" indent="-431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•"/>
              <a:defRPr sz="3200"/>
            </a:lvl3pPr>
            <a:lvl4pPr marL="1828800" lvl="3" indent="-431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–"/>
              <a:defRPr sz="3200"/>
            </a:lvl4pPr>
            <a:lvl5pPr marL="2286000" lvl="4" indent="-431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3200"/>
              <a:buChar char="»"/>
              <a:defRPr sz="3200"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10319680" y="6564337"/>
            <a:ext cx="335827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  <a:defRPr sz="1800" b="1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524000" y="-3992"/>
            <a:ext cx="9144000" cy="265742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3" name="Google Shape;23;p3" descr="Google Shape;27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781754" y="-4223"/>
            <a:ext cx="850751" cy="26487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" name="Google Shape;24;p3"/>
          <p:cNvCxnSpPr/>
          <p:nvPr/>
        </p:nvCxnSpPr>
        <p:spPr>
          <a:xfrm>
            <a:off x="1991543" y="1124744"/>
            <a:ext cx="8219256" cy="1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lide de Título" type="titl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4" descr="Imagem 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414534" y="136525"/>
            <a:ext cx="1379306" cy="1407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 descr="Imagem 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0940"/>
            <a:ext cx="2560322" cy="1228954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/>
          <p:nvPr/>
        </p:nvSpPr>
        <p:spPr>
          <a:xfrm>
            <a:off x="634306" y="6262043"/>
            <a:ext cx="10424161" cy="392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X CIMATech - 2023</a:t>
            </a:r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1pPr>
            <a:lvl2pPr marL="914400" lvl="1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2pPr>
            <a:lvl3pPr marL="1371600" lvl="2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3pPr>
            <a:lvl4pPr marL="1828800" lvl="3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4pPr>
            <a:lvl5pPr marL="2286000" lvl="4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11095178" y="6414761"/>
            <a:ext cx="258623" cy="24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>
  <p:cSld name="Título e Conteúdo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11095178" y="6414761"/>
            <a:ext cx="258623" cy="24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beçalho da Seção">
  <p:cSld name="Cabeçalho da Seção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6" descr="Imagem 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414534" y="136525"/>
            <a:ext cx="1379306" cy="1407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6" descr="Imagem 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0940"/>
            <a:ext cx="2560322" cy="1228954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6"/>
          <p:cNvSpPr txBox="1"/>
          <p:nvPr/>
        </p:nvSpPr>
        <p:spPr>
          <a:xfrm>
            <a:off x="634306" y="6262043"/>
            <a:ext cx="10424161" cy="392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X CIMATech - 2023</a:t>
            </a:r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831850" y="4589462"/>
            <a:ext cx="10515600" cy="15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sldNum" idx="12"/>
          </p:nvPr>
        </p:nvSpPr>
        <p:spPr>
          <a:xfrm>
            <a:off x="11095178" y="6414761"/>
            <a:ext cx="258623" cy="24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uas Partes de Conteúdo">
  <p:cSld name="Duas Partes de Conteúdo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7" descr="Imagem 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414534" y="136525"/>
            <a:ext cx="1379306" cy="1407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7" descr="Imagem 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0940"/>
            <a:ext cx="2560322" cy="1228954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7"/>
          <p:cNvSpPr txBox="1"/>
          <p:nvPr/>
        </p:nvSpPr>
        <p:spPr>
          <a:xfrm>
            <a:off x="634306" y="6262043"/>
            <a:ext cx="10424161" cy="392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X CIMATech - 2023</a:t>
            </a:r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11095178" y="6414761"/>
            <a:ext cx="258623" cy="24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ação">
  <p:cSld name="Comparação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8" descr="Imagem 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414534" y="136525"/>
            <a:ext cx="1379306" cy="1407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8" descr="Imagem 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0940"/>
            <a:ext cx="2560322" cy="1228954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/>
        </p:nvSpPr>
        <p:spPr>
          <a:xfrm>
            <a:off x="634306" y="6262043"/>
            <a:ext cx="10424161" cy="392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X CIMATech - 2023</a:t>
            </a:r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body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2pPr>
            <a:lvl3pPr marL="1371600" lvl="2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3pPr>
            <a:lvl4pPr marL="1828800" lvl="3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4pPr>
            <a:lvl5pPr marL="2286000" lvl="4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body" idx="2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11095178" y="6414761"/>
            <a:ext cx="258623" cy="24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Imagem 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14534" y="136525"/>
            <a:ext cx="1379306" cy="1407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p1" descr="Imagem 12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0" y="220940"/>
            <a:ext cx="2560322" cy="122895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1"/>
          <p:cNvSpPr txBox="1"/>
          <p:nvPr/>
        </p:nvSpPr>
        <p:spPr>
          <a:xfrm>
            <a:off x="634306" y="6262043"/>
            <a:ext cx="10424161" cy="392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F0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X CIMATech - 2023</a:t>
            </a:r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11095178" y="6414761"/>
            <a:ext cx="258623" cy="24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uilhermedetling-png/Trabalho-lego-Robotica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9"/>
          <p:cNvCxnSpPr/>
          <p:nvPr/>
        </p:nvCxnSpPr>
        <p:spPr>
          <a:xfrm>
            <a:off x="1991543" y="5013176"/>
            <a:ext cx="7992890" cy="1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63" name="Google Shape;63;p9"/>
          <p:cNvGrpSpPr/>
          <p:nvPr/>
        </p:nvGrpSpPr>
        <p:grpSpPr>
          <a:xfrm>
            <a:off x="2667000" y="34047"/>
            <a:ext cx="6858000" cy="4624759"/>
            <a:chOff x="0" y="0"/>
            <a:chExt cx="6858000" cy="4624758"/>
          </a:xfrm>
        </p:grpSpPr>
        <p:pic>
          <p:nvPicPr>
            <p:cNvPr id="64" name="Google Shape;64;p9" descr="filme-colado.png"/>
            <p:cNvPicPr preferRelativeResize="0"/>
            <p:nvPr/>
          </p:nvPicPr>
          <p:blipFill rotWithShape="1">
            <a:blip r:embed="rId3">
              <a:alphaModFix/>
            </a:blip>
            <a:srcRect t="1772" b="1771"/>
            <a:stretch/>
          </p:blipFill>
          <p:spPr>
            <a:xfrm>
              <a:off x="0" y="0"/>
              <a:ext cx="6858000" cy="310075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5" name="Google Shape;65;p9"/>
            <p:cNvSpPr/>
            <p:nvPr/>
          </p:nvSpPr>
          <p:spPr>
            <a:xfrm>
              <a:off x="0" y="3176957"/>
              <a:ext cx="6858000" cy="14478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6200" tIns="76200" rIns="76200" bIns="76200" anchor="t" anchorCtr="0">
              <a:noAutofit/>
            </a:bodyPr>
            <a:lstStyle/>
            <a:p>
              <a:pPr lvl="0">
                <a:buSzPts val="2800"/>
              </a:pPr>
              <a:r>
                <a:rPr lang="en-US" sz="2800" b="1" i="0" u="none" strike="noStrike" cap="none" dirty="0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Grupo: </a:t>
              </a:r>
              <a:r>
                <a:rPr lang="en-US" sz="2800" b="1" i="0" u="none" strike="noStrike" cap="none" dirty="0">
                  <a:solidFill>
                    <a:schemeClr val="tx1"/>
                  </a:solidFill>
                  <a:latin typeface="Times"/>
                  <a:ea typeface="Times"/>
                  <a:cs typeface="Times"/>
                  <a:sym typeface="Times"/>
                </a:rPr>
                <a:t>R</a:t>
              </a:r>
              <a:r>
                <a:rPr lang="en-US" sz="2800" b="1" dirty="0">
                  <a:solidFill>
                    <a:schemeClr val="tx1"/>
                  </a:solidFill>
                  <a:latin typeface="Times"/>
                  <a:ea typeface="Times"/>
                  <a:cs typeface="Times"/>
                  <a:sym typeface="Times"/>
                </a:rPr>
                <a:t>enegados</a:t>
              </a:r>
              <a:endParaRPr dirty="0">
                <a:solidFill>
                  <a:schemeClr val="tx1"/>
                </a:solidFill>
              </a:endParaRPr>
            </a:p>
            <a:p>
              <a:pPr lvl="0">
                <a:buSzPts val="2800"/>
              </a:pPr>
              <a:br>
                <a:rPr lang="en-US" sz="2800" b="1" i="0" u="none" strike="noStrike" cap="none" dirty="0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</a:br>
              <a:r>
                <a:rPr lang="en-US" sz="2800" b="0" i="0" u="none" strike="noStrike" cap="none" dirty="0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Tema do </a:t>
              </a:r>
              <a:r>
                <a:rPr lang="en-US" sz="2800" b="0" i="0" u="none" strike="noStrike" cap="none" dirty="0" err="1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projeto</a:t>
              </a:r>
              <a:r>
                <a:rPr lang="en-US" sz="2800" b="0" i="0" u="none" strike="noStrike" cap="none" dirty="0">
                  <a:solidFill>
                    <a:srgbClr val="000000"/>
                  </a:solidFill>
                  <a:latin typeface="Times"/>
                  <a:ea typeface="Times"/>
                  <a:cs typeface="Times"/>
                  <a:sym typeface="Times"/>
                </a:rPr>
                <a:t>: </a:t>
              </a:r>
              <a:r>
                <a:rPr lang="pt-BR" sz="2800" b="1" dirty="0">
                  <a:solidFill>
                    <a:schemeClr val="tx1"/>
                  </a:solidFill>
                  <a:latin typeface="Times"/>
                  <a:cs typeface="Times"/>
                </a:rPr>
                <a:t>Robô automatizado de LEGO para resolver cubo mágico.</a:t>
              </a:r>
              <a:endParaRPr sz="2800" b="1" dirty="0">
                <a:solidFill>
                  <a:schemeClr val="tx1"/>
                </a:solidFill>
                <a:latin typeface="Times"/>
                <a:cs typeface="Times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80509737-A013-F173-AA45-7CE4E4F4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>
            <a:extLst>
              <a:ext uri="{FF2B5EF4-FFF2-40B4-BE49-F238E27FC236}">
                <a16:creationId xmlns:a16="http://schemas.microsoft.com/office/drawing/2014/main" id="{2CE91ABB-AC5C-4728-AF22-36DB26DF2C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lvl="0"/>
            <a:r>
              <a:rPr lang="en-US" sz="3600" b="1" i="0" u="none" strike="noStrike" cap="none" dirty="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			Grupo </a:t>
            </a:r>
            <a:r>
              <a:rPr lang="en-US" dirty="0">
                <a:latin typeface="Times"/>
                <a:ea typeface="Times"/>
                <a:cs typeface="Times"/>
                <a:sym typeface="Times"/>
              </a:rPr>
              <a:t>renegados</a:t>
            </a:r>
            <a:endParaRPr sz="3600" b="1" i="0" u="none" strike="noStrike" cap="none" dirty="0">
              <a:solidFill>
                <a:srgbClr val="000000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71" name="Google Shape;71;p10">
            <a:extLst>
              <a:ext uri="{FF2B5EF4-FFF2-40B4-BE49-F238E27FC236}">
                <a16:creationId xmlns:a16="http://schemas.microsoft.com/office/drawing/2014/main" id="{D052C942-DFDD-E683-EE7E-5AB32503179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435543" y="6564337"/>
            <a:ext cx="219964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72" name="Google Shape;72;p10">
            <a:extLst>
              <a:ext uri="{FF2B5EF4-FFF2-40B4-BE49-F238E27FC236}">
                <a16:creationId xmlns:a16="http://schemas.microsoft.com/office/drawing/2014/main" id="{AFA3ABF5-F55D-25BF-FE77-F96540B91D0B}"/>
              </a:ext>
            </a:extLst>
          </p:cNvPr>
          <p:cNvSpPr txBox="1"/>
          <p:nvPr/>
        </p:nvSpPr>
        <p:spPr>
          <a:xfrm>
            <a:off x="1519826" y="1481299"/>
            <a:ext cx="8912029" cy="3323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280736" lvl="0" indent="-280736" algn="just">
              <a:buSzPts val="2800"/>
              <a:buFont typeface="Times"/>
              <a:buChar char="•"/>
            </a:pPr>
            <a:r>
              <a:rPr lang="pt-BR" sz="2800" dirty="0">
                <a:solidFill>
                  <a:schemeClr val="tx1"/>
                </a:solidFill>
                <a:latin typeface="Times"/>
                <a:ea typeface="Times"/>
                <a:cs typeface="Times"/>
                <a:sym typeface="Times"/>
              </a:rPr>
              <a:t>João Vitor dos Santos Pereira                          RA:2301276</a:t>
            </a:r>
          </a:p>
          <a:p>
            <a:pPr marL="280736" indent="-280736" algn="just">
              <a:buSzPts val="2800"/>
              <a:buFont typeface="Times"/>
              <a:buChar char="•"/>
            </a:pPr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Guilherme Henrique Augusto do Nascimento RA: 1900975</a:t>
            </a:r>
          </a:p>
          <a:p>
            <a:pPr marL="280736" indent="-280736" algn="just">
              <a:buSzPts val="2800"/>
              <a:buFont typeface="Times"/>
              <a:buChar char="•"/>
            </a:pPr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Guilherme de Oliveira Detling                         RA:2301803</a:t>
            </a:r>
          </a:p>
          <a:p>
            <a:pPr marL="280736" indent="-280736" algn="just">
              <a:buSzPts val="2800"/>
              <a:buFont typeface="Times"/>
              <a:buChar char="•"/>
            </a:pPr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Eduardo Paro Saraiva                                       RA:2300613</a:t>
            </a:r>
          </a:p>
          <a:p>
            <a:pPr marL="280736" indent="-280736" algn="just">
              <a:buSzPts val="2800"/>
              <a:buFont typeface="Times"/>
              <a:buChar char="•"/>
            </a:pPr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Danilo Cristino de Lima			     RA:2301664</a:t>
            </a:r>
          </a:p>
          <a:p>
            <a:pPr marL="280736" indent="-280736" algn="just">
              <a:buSzPts val="2800"/>
              <a:buFont typeface="Times"/>
              <a:buChar char="•"/>
            </a:pPr>
            <a:r>
              <a:rPr lang="pt-BR" sz="2800">
                <a:solidFill>
                  <a:schemeClr val="tx1"/>
                </a:solidFill>
                <a:latin typeface="Times"/>
                <a:cs typeface="Times"/>
              </a:rPr>
              <a:t>Pedro Henrique Teixeira Gonçalves                RA:2101531</a:t>
            </a:r>
            <a:endParaRPr lang="pt-BR" sz="2800" dirty="0">
              <a:solidFill>
                <a:schemeClr val="tx1"/>
              </a:solidFill>
              <a:latin typeface="Times"/>
              <a:cs typeface="Times"/>
            </a:endParaRPr>
          </a:p>
          <a:p>
            <a:pPr marL="280736" indent="-280736" algn="just">
              <a:buSzPts val="2800"/>
              <a:buFont typeface="Times"/>
              <a:buChar char="•"/>
            </a:pPr>
            <a:endParaRPr lang="pt-BR" sz="2800" dirty="0">
              <a:solidFill>
                <a:srgbClr val="FF0000"/>
              </a:solidFill>
              <a:latin typeface="Times"/>
              <a:cs typeface="Times"/>
            </a:endParaRPr>
          </a:p>
          <a:p>
            <a:pPr marL="280736" lvl="0" indent="-280736" algn="just">
              <a:buSzPts val="2800"/>
              <a:buFont typeface="Times"/>
              <a:buChar char="•"/>
            </a:pPr>
            <a:endParaRPr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185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1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>
                <a:latin typeface="Times"/>
                <a:ea typeface="Times"/>
                <a:cs typeface="Times"/>
                <a:sym typeface="Times"/>
              </a:rPr>
              <a:t>Objetivo</a:t>
            </a:r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sldNum" idx="12"/>
          </p:nvPr>
        </p:nvSpPr>
        <p:spPr>
          <a:xfrm>
            <a:off x="10435543" y="6564337"/>
            <a:ext cx="219964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79" name="Google Shape;79;p11"/>
          <p:cNvSpPr txBox="1"/>
          <p:nvPr/>
        </p:nvSpPr>
        <p:spPr>
          <a:xfrm>
            <a:off x="1519826" y="1481299"/>
            <a:ext cx="8912029" cy="3539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280736" lvl="0" indent="-280736" algn="just">
              <a:buSzPts val="2800"/>
              <a:buFont typeface="Times"/>
              <a:buChar char="•"/>
            </a:pPr>
            <a:r>
              <a:rPr lang="pt-BR" sz="2800" dirty="0">
                <a:latin typeface="Times"/>
                <a:cs typeface="Times"/>
              </a:rPr>
              <a:t>Desenvolver um robô automatizado utilizando LEGO </a:t>
            </a:r>
            <a:r>
              <a:rPr lang="pt-BR" sz="2800" dirty="0" err="1">
                <a:latin typeface="Times"/>
                <a:cs typeface="Times"/>
              </a:rPr>
              <a:t>Mindstorms</a:t>
            </a:r>
            <a:r>
              <a:rPr lang="pt-BR" sz="2800" dirty="0">
                <a:latin typeface="Times"/>
                <a:cs typeface="Times"/>
              </a:rPr>
              <a:t> EV3, capaz de identificar as cores de um cubo mágico por meio de sensores e executar os movimentos necessários para resolvê-lo de forma autônoma. O projeto integra conceitos de programação, robótica e lógica computacional, demonstrando na prática como sistemas automatizados podem realizar tarefas complexas com precisão e repetibilidade.</a:t>
            </a:r>
            <a:endParaRPr lang="en-US" sz="2800" dirty="0">
              <a:latin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 sz="3600" b="1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Introdução  </a:t>
            </a:r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sldNum" idx="12"/>
          </p:nvPr>
        </p:nvSpPr>
        <p:spPr>
          <a:xfrm>
            <a:off x="10435543" y="6564337"/>
            <a:ext cx="219964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86" name="Google Shape;86;p12"/>
          <p:cNvSpPr txBox="1"/>
          <p:nvPr/>
        </p:nvSpPr>
        <p:spPr>
          <a:xfrm>
            <a:off x="1965133" y="1902695"/>
            <a:ext cx="8261733" cy="39702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lvl="0" algn="just">
              <a:buSzPts val="2800"/>
            </a:pPr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Este projeto foi desenvolvido para aplicar, na prática, conceitos de robótica e programação por meio da criação de um robô capaz de resolver um cubo mágico automaticamente. A escolha do tema se deve ao desafio lógico envolvido na resolução do cubo, tornando-o ideal para demonstrar o uso de sensores, motores e algoritmos. O protótipo evidencia como a automação pode executar tarefas complexas com precisão, além de contribuir para o aprendizado e desenvolvimento tecnológico.</a:t>
            </a:r>
            <a:endParaRPr sz="2800" dirty="0">
              <a:solidFill>
                <a:schemeClr val="tx1"/>
              </a:solidFill>
              <a:latin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 sz="3600" b="1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Desenvolvimento </a:t>
            </a:r>
            <a:endParaRPr/>
          </a:p>
        </p:txBody>
      </p:sp>
      <p:sp>
        <p:nvSpPr>
          <p:cNvPr id="106" name="Google Shape;106;p15"/>
          <p:cNvSpPr txBox="1">
            <a:spLocks noGrp="1"/>
          </p:cNvSpPr>
          <p:nvPr>
            <p:ph type="sldNum" idx="12"/>
          </p:nvPr>
        </p:nvSpPr>
        <p:spPr>
          <a:xfrm>
            <a:off x="10435543" y="6564337"/>
            <a:ext cx="219964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1641533" y="1352596"/>
            <a:ext cx="9332126" cy="4154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Times"/>
              <a:buNone/>
            </a:pPr>
            <a:r>
              <a:rPr lang="en-US" sz="2800" b="1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Descrevam cada item do processo de desenvolvimento do projeto: </a:t>
            </a:r>
            <a:endParaRPr/>
          </a:p>
          <a:p>
            <a:pPr marL="374315" marR="0" lvl="0" indent="-374315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Times"/>
              <a:buAutoNum type="arabicPeriod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Funcionalidades </a:t>
            </a:r>
            <a:endParaRPr/>
          </a:p>
          <a:p>
            <a:pPr marL="374315" marR="0" lvl="0" indent="-374315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Times"/>
              <a:buAutoNum type="arabicPeriod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Problemas e Desafios encontrados ao longo do desenvolvimento do projeto.</a:t>
            </a:r>
            <a:endParaRPr sz="1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74315" marR="0" lvl="0" indent="-374315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Times"/>
              <a:buAutoNum type="arabicPeriod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Conhecimento e Experiencia adquirida ao longo do processo de desenvolvimento do projeto </a:t>
            </a:r>
            <a:endParaRPr/>
          </a:p>
          <a:p>
            <a:pPr marL="374315" marR="0" lvl="0" indent="-374315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Times"/>
              <a:buAutoNum type="arabicPeriod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Resultados obtidos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>
                <a:latin typeface="Times"/>
                <a:ea typeface="Times"/>
                <a:cs typeface="Times"/>
                <a:sym typeface="Times"/>
              </a:rPr>
              <a:t>Funcionalidades</a:t>
            </a:r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ldNum" idx="12"/>
          </p:nvPr>
        </p:nvSpPr>
        <p:spPr>
          <a:xfrm>
            <a:off x="10435543" y="6564337"/>
            <a:ext cx="219964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2141056" y="2093345"/>
            <a:ext cx="8505579" cy="35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lvl="0" algn="just">
              <a:buSzPts val="2800"/>
            </a:pPr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O protótipo é capaz de identificar as cores do cubo mágico por meio de sensor, realizar a leitura das faces e processar as informações utilizando programação embarcada. A partir disso, executa automaticamente os movimentos necessários para resolver o cubo, controlando os motores com precisão. Além disso, o sistema realiza toda a operação de forma autônoma, sem necessidade de intervenção durante o processo.</a:t>
            </a:r>
            <a:endParaRPr sz="2800" dirty="0">
              <a:solidFill>
                <a:schemeClr val="tx1"/>
              </a:solidFill>
              <a:latin typeface="Times"/>
              <a:cs typeface="Times"/>
            </a:endParaRPr>
          </a:p>
        </p:txBody>
      </p:sp>
      <p:sp>
        <p:nvSpPr>
          <p:cNvPr id="115" name="Google Shape;115;p16"/>
          <p:cNvSpPr/>
          <p:nvPr/>
        </p:nvSpPr>
        <p:spPr>
          <a:xfrm>
            <a:off x="10240659" y="3552350"/>
            <a:ext cx="1867814" cy="1781197"/>
          </a:xfrm>
          <a:prstGeom prst="rect">
            <a:avLst/>
          </a:prstGeom>
          <a:solidFill>
            <a:srgbClr val="FFFFFF"/>
          </a:solidFill>
          <a:ln w="254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</a:pPr>
            <a:endParaRPr sz="1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 sz="3600" b="1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Problemas e Desafios encontrados</a:t>
            </a:r>
            <a:endParaRPr sz="3600" b="1" i="0" u="none" strike="noStrike" cap="none">
              <a:solidFill>
                <a:srgbClr val="000000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21" name="Google Shape;121;p17"/>
          <p:cNvSpPr txBox="1">
            <a:spLocks noGrp="1"/>
          </p:cNvSpPr>
          <p:nvPr>
            <p:ph type="sldNum" idx="12"/>
          </p:nvPr>
        </p:nvSpPr>
        <p:spPr>
          <a:xfrm>
            <a:off x="10435543" y="6564337"/>
            <a:ext cx="219964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10240659" y="3552350"/>
            <a:ext cx="1867814" cy="1781197"/>
          </a:xfrm>
          <a:prstGeom prst="rect">
            <a:avLst/>
          </a:prstGeom>
          <a:solidFill>
            <a:srgbClr val="FFFFFF"/>
          </a:solidFill>
          <a:ln w="254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</a:pPr>
            <a:endParaRPr sz="1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1776096" y="1252479"/>
            <a:ext cx="8769429" cy="5478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Durante o desenvolvimento do projeto, o grupo enfrentou algumas dificuldades que impactaram o andamento da construção do protótipo. Entre os principais desafios, destaca-se a falta de peças de outros kits, o que limitou algumas possibilidades de montagem e exigiu adaptações na estrutura do robô.</a:t>
            </a:r>
          </a:p>
          <a:p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Além disso, houve dificuldade em encontrar protótipos e códigos como referência, e muitos dos materiais disponíveis estavam desatualizados, o que demandou ajustes e testes adicionais para funcionamento no ambiente atual. Esses obstáculos exigiram maior esforço do grupo na busca por soluções e no processo de desenvolvimento.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Times"/>
              <a:buNone/>
            </a:pP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>
                <a:latin typeface="Times"/>
                <a:ea typeface="Times"/>
                <a:cs typeface="Times"/>
                <a:sym typeface="Times"/>
              </a:rPr>
              <a:t>Conhecimento e Experiencia adquirida</a:t>
            </a:r>
            <a:endParaRPr/>
          </a:p>
        </p:txBody>
      </p:sp>
      <p:sp>
        <p:nvSpPr>
          <p:cNvPr id="129" name="Google Shape;129;p18"/>
          <p:cNvSpPr txBox="1">
            <a:spLocks noGrp="1"/>
          </p:cNvSpPr>
          <p:nvPr>
            <p:ph type="sldNum" idx="12"/>
          </p:nvPr>
        </p:nvSpPr>
        <p:spPr>
          <a:xfrm>
            <a:off x="10319680" y="6564337"/>
            <a:ext cx="335827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130" name="Google Shape;130;p18"/>
          <p:cNvSpPr txBox="1"/>
          <p:nvPr/>
        </p:nvSpPr>
        <p:spPr>
          <a:xfrm>
            <a:off x="1797404" y="1490142"/>
            <a:ext cx="9836501" cy="4401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Ao longo do desenvolvimento do projeto, o grupo adquiriu conhecimentos em robótica, programação e integração de sensores e motores utilizando o LEGO </a:t>
            </a:r>
            <a:r>
              <a:rPr lang="pt-BR" sz="2800" dirty="0" err="1">
                <a:solidFill>
                  <a:schemeClr val="tx1"/>
                </a:solidFill>
                <a:latin typeface="Times"/>
                <a:cs typeface="Times"/>
              </a:rPr>
              <a:t>Mindstorms</a:t>
            </a:r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 EV3. Também foram desenvolvidas habilidades relacionadas à lógica de programação e à automação de processos.</a:t>
            </a:r>
          </a:p>
          <a:p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Além do aspecto técnico, o projeto contribuiu para o fortalecimento do trabalho em equipe, da comunicação e da resolução de problemas, especialmente diante dos desafios encontrados. Essa experiência ampliou a capacidade do grupo em desenvolver soluções práticas e inovadoras.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>
                <a:latin typeface="Times"/>
                <a:ea typeface="Times"/>
                <a:cs typeface="Times"/>
                <a:sym typeface="Times"/>
              </a:rPr>
              <a:t>Resultados Obtidos </a:t>
            </a:r>
            <a:endParaRPr/>
          </a:p>
        </p:txBody>
      </p:sp>
      <p:sp>
        <p:nvSpPr>
          <p:cNvPr id="136" name="Google Shape;136;p19"/>
          <p:cNvSpPr txBox="1">
            <a:spLocks noGrp="1"/>
          </p:cNvSpPr>
          <p:nvPr>
            <p:ph type="sldNum" idx="12"/>
          </p:nvPr>
        </p:nvSpPr>
        <p:spPr>
          <a:xfrm>
            <a:off x="10319680" y="6564337"/>
            <a:ext cx="335827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EEE0793-D77F-95AA-2134-F926D2C08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206" y="1634220"/>
            <a:ext cx="5871587" cy="325627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5FEC4F88-051B-15CA-74B2-A47E5AFB7FB0}"/>
              </a:ext>
            </a:extLst>
          </p:cNvPr>
          <p:cNvSpPr txBox="1"/>
          <p:nvPr/>
        </p:nvSpPr>
        <p:spPr>
          <a:xfrm>
            <a:off x="2313634" y="5629415"/>
            <a:ext cx="93324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https://drive.google.com/file/d/1zBx80RZml8HD2GR7-LuG-M4FVucPuly-/view?usp=sharing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 dirty="0" err="1">
                <a:latin typeface="Times"/>
                <a:ea typeface="Times"/>
                <a:cs typeface="Times"/>
                <a:sym typeface="Times"/>
              </a:rPr>
              <a:t>Conclusão</a:t>
            </a:r>
            <a:r>
              <a:rPr lang="en-US" dirty="0">
                <a:latin typeface="Times"/>
                <a:ea typeface="Times"/>
                <a:cs typeface="Times"/>
                <a:sym typeface="Times"/>
              </a:rPr>
              <a:t> </a:t>
            </a:r>
            <a:endParaRPr dirty="0"/>
          </a:p>
        </p:txBody>
      </p:sp>
      <p:sp>
        <p:nvSpPr>
          <p:cNvPr id="143" name="Google Shape;143;p20"/>
          <p:cNvSpPr txBox="1">
            <a:spLocks noGrp="1"/>
          </p:cNvSpPr>
          <p:nvPr>
            <p:ph type="sldNum" idx="12"/>
          </p:nvPr>
        </p:nvSpPr>
        <p:spPr>
          <a:xfrm>
            <a:off x="10319680" y="6564337"/>
            <a:ext cx="335827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44" name="Google Shape;144;p20"/>
          <p:cNvSpPr/>
          <p:nvPr/>
        </p:nvSpPr>
        <p:spPr>
          <a:xfrm>
            <a:off x="10240659" y="3552350"/>
            <a:ext cx="1867814" cy="1781197"/>
          </a:xfrm>
          <a:prstGeom prst="rect">
            <a:avLst/>
          </a:prstGeom>
          <a:solidFill>
            <a:srgbClr val="FFFFFF"/>
          </a:solidFill>
          <a:ln w="254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</a:pPr>
            <a:endParaRPr sz="1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5" name="Google Shape;145;p20"/>
          <p:cNvSpPr txBox="1"/>
          <p:nvPr/>
        </p:nvSpPr>
        <p:spPr>
          <a:xfrm>
            <a:off x="1582973" y="1817152"/>
            <a:ext cx="10166253" cy="3108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lvl="0" algn="just">
              <a:buSzPts val="2800"/>
            </a:pPr>
            <a:r>
              <a:rPr lang="pt-BR" sz="2800" dirty="0">
                <a:solidFill>
                  <a:schemeClr val="tx1"/>
                </a:solidFill>
                <a:latin typeface="Times"/>
                <a:cs typeface="Times"/>
              </a:rPr>
              <a:t>O desenvolvimento do projeto evidenciou a aplicação prática de conceitos de robótica e programação, desde a concepção até a implementação do protótipo. Ao longo do processo, a equipe superou desafios técnicos e de integração, desenvolvendo soluções que garantiram o funcionamento do robô. Cada dificuldade enfrentada contribuiu para o aprendizado, resultando em um projeto funcional e alinhado aos objetivos propostos.</a:t>
            </a:r>
            <a:endParaRPr sz="2800" dirty="0">
              <a:solidFill>
                <a:schemeClr val="tx1"/>
              </a:solidFill>
              <a:latin typeface="Times"/>
              <a:cs typeface="Time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1"/>
          <p:cNvSpPr txBox="1">
            <a:spLocks noGrp="1"/>
          </p:cNvSpPr>
          <p:nvPr>
            <p:ph type="title"/>
          </p:nvPr>
        </p:nvSpPr>
        <p:spPr>
          <a:xfrm>
            <a:off x="1991543" y="545195"/>
            <a:ext cx="8219256" cy="651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Times"/>
              <a:buNone/>
            </a:pPr>
            <a:r>
              <a:rPr lang="en-US" sz="3600" b="1" i="0" u="none" strike="noStrike" cap="none" dirty="0" err="1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Github</a:t>
            </a:r>
            <a:r>
              <a:rPr lang="en-US" sz="3600" b="1" i="0" u="none" strike="noStrike" cap="none" dirty="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 e </a:t>
            </a:r>
            <a:r>
              <a:rPr lang="en-US" dirty="0">
                <a:latin typeface="Times"/>
                <a:ea typeface="Times"/>
                <a:cs typeface="Times"/>
                <a:sym typeface="Times"/>
              </a:rPr>
              <a:t>Video</a:t>
            </a:r>
            <a:endParaRPr dirty="0"/>
          </a:p>
        </p:txBody>
      </p:sp>
      <p:sp>
        <p:nvSpPr>
          <p:cNvPr id="151" name="Google Shape;151;p21"/>
          <p:cNvSpPr txBox="1">
            <a:spLocks noGrp="1"/>
          </p:cNvSpPr>
          <p:nvPr>
            <p:ph type="sldNum" idx="12"/>
          </p:nvPr>
        </p:nvSpPr>
        <p:spPr>
          <a:xfrm>
            <a:off x="10319680" y="6564337"/>
            <a:ext cx="335827" cy="333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675" tIns="45675" rIns="45675" bIns="45675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52" name="Google Shape;152;p21"/>
          <p:cNvSpPr/>
          <p:nvPr/>
        </p:nvSpPr>
        <p:spPr>
          <a:xfrm>
            <a:off x="10240659" y="3552350"/>
            <a:ext cx="1867814" cy="1781197"/>
          </a:xfrm>
          <a:prstGeom prst="rect">
            <a:avLst/>
          </a:prstGeom>
          <a:solidFill>
            <a:srgbClr val="FFFFFF"/>
          </a:solidFill>
          <a:ln w="254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"/>
              <a:buNone/>
            </a:pPr>
            <a:endParaRPr sz="18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3" name="Google Shape;153;p21"/>
          <p:cNvSpPr txBox="1"/>
          <p:nvPr/>
        </p:nvSpPr>
        <p:spPr>
          <a:xfrm>
            <a:off x="492370" y="1920696"/>
            <a:ext cx="11395040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lvl="0" algn="just">
              <a:buSzPts val="2800"/>
            </a:pPr>
            <a:r>
              <a:rPr lang="en-US" sz="2800" dirty="0">
                <a:solidFill>
                  <a:srgbClr val="0000FF"/>
                </a:solidFill>
                <a:latin typeface="Times"/>
                <a:ea typeface="Times"/>
                <a:cs typeface="Times"/>
                <a:sym typeface="Time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https://github.com/guilhermedetling-png/</a:t>
            </a:r>
            <a:r>
              <a:rPr lang="en-US" sz="2800" dirty="0">
                <a:solidFill>
                  <a:schemeClr val="tx1"/>
                </a:solidFill>
                <a:latin typeface="Times"/>
                <a:ea typeface="Times"/>
                <a:cs typeface="Times"/>
                <a:sym typeface="Time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Trabalho-lego-Robotica</a:t>
            </a:r>
            <a:br>
              <a:rPr lang="en-US" sz="2800" dirty="0">
                <a:solidFill>
                  <a:schemeClr val="tx1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lang="en-US" sz="2800" dirty="0">
                <a:solidFill>
                  <a:schemeClr val="tx1"/>
                </a:solidFill>
                <a:latin typeface="Times"/>
                <a:ea typeface="Times"/>
                <a:cs typeface="Times"/>
                <a:sym typeface="Times"/>
              </a:rPr>
              <a:t>           https://drive.google.com/drive/folders/1eJQzCIqlpSNo3a1gfojlub9w-PzUaHHB?hl=pt-br</a:t>
            </a:r>
            <a:endParaRPr sz="2800" b="0" i="0" u="none" strike="noStrike" cap="none" dirty="0">
              <a:solidFill>
                <a:schemeClr val="tx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Tema do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643</Words>
  <Application>Microsoft Office PowerPoint</Application>
  <PresentationFormat>Widescreen</PresentationFormat>
  <Paragraphs>43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Arial</vt:lpstr>
      <vt:lpstr>Helvetica Neue</vt:lpstr>
      <vt:lpstr>Times</vt:lpstr>
      <vt:lpstr>Calibri</vt:lpstr>
      <vt:lpstr>Tema do Office</vt:lpstr>
      <vt:lpstr>Apresentação do PowerPoint</vt:lpstr>
      <vt:lpstr>   Grupo renegados</vt:lpstr>
      <vt:lpstr>Objetivo</vt:lpstr>
      <vt:lpstr>Introdução  </vt:lpstr>
      <vt:lpstr>Desenvolvimento </vt:lpstr>
      <vt:lpstr>Funcionalidades</vt:lpstr>
      <vt:lpstr>Problemas e Desafios encontrados</vt:lpstr>
      <vt:lpstr>Conhecimento e Experiencia adquirida</vt:lpstr>
      <vt:lpstr>Resultados Obtidos </vt:lpstr>
      <vt:lpstr>Conclusão </vt:lpstr>
      <vt:lpstr>Github e Video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Guilherme Detling</dc:creator>
  <cp:lastModifiedBy>Guilherme Detling</cp:lastModifiedBy>
  <cp:revision>3</cp:revision>
  <dcterms:modified xsi:type="dcterms:W3CDTF">2026-04-09T20:15:02Z</dcterms:modified>
</cp:coreProperties>
</file>